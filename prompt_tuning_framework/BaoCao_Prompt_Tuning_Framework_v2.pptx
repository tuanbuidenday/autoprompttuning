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-10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A33"/>
                </a:solidFill>
                <a:latin typeface="Calibri"/>
              </a:defRPr>
            </a:pPr>
            <a:r>
              <a:rPr lang="vi-VN" sz="1300" b="0" i="0" u="none" strike="noStrike">
                <a:solidFill>
                  <a:srgbClr val="0A1A33"/>
                </a:solidFill>
                <a:latin typeface="Calibri"/>
              </a:rPr>
              <a:t>Gemini thật · 16/16 ca chấm được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</c:v>
                </c:pt>
              </c:strCache>
            </c:strRef>
          </c:tx>
          <c:spPr>
            <a:solidFill>
              <a:srgbClr val="5A6B8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A6B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12-FF42-81C4-6E2CCE7E9D8C}"/>
              </c:ext>
            </c:extLst>
          </c:dPt>
          <c:dPt>
            <c:idx val="1"/>
            <c:invertIfNegative val="0"/>
            <c:bubble3D val="0"/>
            <c:spPr>
              <a:solidFill>
                <a:srgbClr val="E40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12-FF42-81C4-6E2CCE7E9D8C}"/>
              </c:ext>
            </c:extLst>
          </c:dPt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A1A33"/>
                    </a:solidFill>
                    <a:latin typeface="Arial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v0 — prompt dở</c:v>
                </c:pt>
                <c:pt idx="1">
                  <c:v>v1 — đã tối ưu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68.8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12-FF42-81C4-6E2CCE7E9D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12700" cap="flat">
              <a:solidFill>
                <a:srgbClr val="D9E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A1A33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0A1A33"/>
                </a:solidFill>
                <a:latin typeface="Calibri"/>
              </a:rPr>
              <a:t>Giá OUTPUT (USD / 1M token) — phần tốn nhất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/ 1M output token</c:v>
                </c:pt>
              </c:strCache>
            </c:strRef>
          </c:tx>
          <c:spPr>
            <a:solidFill>
              <a:srgbClr val="FFC62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F1-6B4B-BE42-54C5ECD18787}"/>
              </c:ext>
            </c:extLst>
          </c:dPt>
          <c:dPt>
            <c:idx val="1"/>
            <c:invertIfNegative val="0"/>
            <c:bubble3D val="0"/>
            <c:spPr>
              <a:solidFill>
                <a:srgbClr val="5A6B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F1-6B4B-BE42-54C5ECD18787}"/>
              </c:ext>
            </c:extLst>
          </c:dPt>
          <c:dPt>
            <c:idx val="2"/>
            <c:invertIfNegative val="0"/>
            <c:bubble3D val="0"/>
            <c:spPr>
              <a:solidFill>
                <a:srgbClr val="E40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F1-6B4B-BE42-54C5ECD18787}"/>
              </c:ext>
            </c:extLst>
          </c:dPt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A1A33"/>
                    </a:solidFill>
                    <a:latin typeface="Arial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3.1-flash-lite
(thí sinh)</c:v>
                </c:pt>
                <c:pt idx="1">
                  <c:v>3-flash</c:v>
                </c:pt>
                <c:pt idx="2">
                  <c:v>3.5-flash
(người sửa)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3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5F1-6B4B-BE42-54C5ECD187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.5"/>
          <c:min val="0"/>
        </c:scaling>
        <c:delete val="0"/>
        <c:axPos val="l"/>
        <c:majorGridlines>
          <c:spPr>
            <a:ln w="12700" cap="flat">
              <a:solidFill>
                <a:srgbClr val="D9E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16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đây là framework tối ưu prompt tự động, không phải một ứng dụng đơn lẻ. Điểm cốt lõi: framework giữ vòng lặp và gọi ngược lại component người dùng cắm vào.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lý do tồn tại của prompt tuning. Con số 81 vs 72 lấy từ paper AutoPrompt.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bước này chính là 4 điểm mở rộng của framework. Mỗi bước là một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điểm mấu chốt chứng minh đây là framework chứ không phải ứng dụng: quyền điều khiển nằm ở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Registry + config-driven là hai tiêu chí bắt buộc của một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framework chỉ bọc AutoPrompt thì nó là wrapper, không phải framework. Đây là lý do phải có optimizer tự viết.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đều kiểm chứng được: chạy pytest ra 89 test; grep repo AutoPrompt không có file test nào; pyproject.toml của AutoPrompt khai requires-python &gt;=3.12 trong khi README nói &lt;=3.10.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kết quả chạy thật với Gemini, không phải minh hoạ: 16/16 ca đều chấm được nên điểm đáng tin. Quy định giấu là 'chỉ khẩn cấp khi khách TRẢ TIỀN bị chặn hoàn toàn' — framework tự suy ra được cả chiều trả-tiền lẫn mẹo bỏ qua giọng điệu gào thét.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thật phát hiện khi chạy Gemini: rate limit 429 làm 9/12 ca lỗi, mà ca lỗi bị loại khỏi mẫu số của điểm -&gt; 3 ca còn lại đúng hết = 100/100, và tuner tưởng đạt target nên dừng sớm, tuyên bố thắng trên số liệu rác. Đã sửa bằng cờ reliable + ngưỡng min_scored_ratio.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Ước tính $0.05/lần chạy với ~200k input + 50k output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Streamlit có chế độ Demo offline: trình diễn được mà không cần API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framework hoàn chỉnh, có test, cài được bằng pip, chạy được cả offline lẫn với LLM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332720" y="-2258568"/>
            <a:ext cx="5486400" cy="12801600"/>
          </a:xfrm>
          <a:prstGeom prst="rect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ĐỒ ÁN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Tuning</a:t>
            </a:r>
            <a:endParaRPr lang="en-US" sz="48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tối ưu hóa &amp; tinh chỉnh prompt tự động — bán tự động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Prompt  →  Thực thi  →  Đánh giá  →  Tối ưu hóa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 ·  89/89 test pass  ·  pip installable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828800"/>
            <a:ext cx="4572000" cy="4572000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Shape 1"/>
          <p:cNvSpPr/>
          <p:nvPr/>
        </p:nvSpPr>
        <p:spPr>
          <a:xfrm>
            <a:off x="11521440" y="4480560"/>
            <a:ext cx="2011680" cy="2011680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vài chữ — điểm tụt 11%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LLM phụ thuộc rất mạnh vào cách diễn đạt prompt. Cùng một ý, hai cách viết cho kết quả khác hẳn.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75488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“…indicate whether it includes any significant plot revelations…”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4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475488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  (chỉ đổi cách diễn đạt)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“…determine if it provides essential revelations or critical details…”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3931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217919" y="2029968"/>
            <a:ext cx="4664445" cy="3429000"/>
          </a:xfrm>
          <a:prstGeom prst="roundRect">
            <a:avLst>
              <a:gd name="adj" fmla="val 3200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630936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–11%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3093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xác, chỉ vì đổi câu chữ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Viết prompt thủ công = mò mẫm, tốn công, không đo được.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Cần một quy trình tự động: thử → chấm → sửa → lặp.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Levi et al., Intent-based Prompt Calibration (arXiv:2402.03099)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332720" y="-2258568"/>
            <a:ext cx="5486400" cy="12801600"/>
          </a:xfrm>
          <a:prstGeom prst="rect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Vòng lặp khép kín 4 bước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vì sửa prompt bằng tay, hệ thống tự lặp: chạy thử → chấm điểm → nhìn lỗi → viết lại prompt.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Prompt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từng phiên bản prompt kèm điểm số, giữ bản tốt nhất.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BasePromptStore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3703320" y="2240280"/>
            <a:ext cx="457200" cy="457200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3703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thi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prompt hiện tại trên bộ ca test.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0332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BaseExecutor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đúng/sai so với đáp án, chỉ ra ca lỗi.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BaseEvaluator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9372600" y="2240280"/>
            <a:ext cx="457200" cy="457200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93726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7260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ca lỗi, đề xuất prompt mới tốt hơn.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7260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BaseOptimizer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lại đến khi hết ngân sách hoặc không cải thiện thêm  →  trả về prompt tốt nhất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giữ vòng lặp, gọi ngược code của bạn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 — “Đừng gọi chúng tôi, chúng tôi sẽ gọi bạn.” Đây là ranh giới giữa framework và thư viện.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PromptTuner.run()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nắm vòng lặp chính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vòng gọi ngược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2057400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5349240" y="20574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store.record_score()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0" y="20574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953512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5349240" y="295351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executor.execute()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29535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849624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5349240" y="384962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evaluator.evaluate()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38496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4745736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5349240" y="474573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optimizer.propose()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474573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chỉ kế thừa interface và cắm vào — không phải viết vòng lặp, không phải lo tiêu chí dừng, lịch sử phiên bản hay xử lý lỗi.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828800"/>
            <a:ext cx="4572000" cy="4572000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Shape 1"/>
          <p:cNvSpPr/>
          <p:nvPr/>
        </p:nvSpPr>
        <p:spPr>
          <a:xfrm>
            <a:off x="11521440" y="4480560"/>
            <a:ext cx="2011680" cy="2011680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Cắm plugin bằng tên — đổi engine không sửa code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Đăng ký component của bạn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@register("optimizer", "my_opt")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MyOptimizer(BaseOptimizer):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propose(self, prompt, result, ...):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prompt_moi   # framework sẽ GỌI hàm này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Khai báo trong YAML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868680" y="41330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autoprompt   # đổi thành llm_rewrite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params: {model: gemini-3.5-flash}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có sẵn trong registry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783080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6720840" y="17830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7830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sqlite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624328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6720840" y="262432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26243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465576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6720840" y="346557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92440" y="34655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306824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6720840" y="43068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43068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llm_rewrite · autoprompt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516636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6720840" y="5166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thêm plugin mới mà KHÔNG cần sửa một dòng nào trong lõi framework.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332720" y="-2258568"/>
            <a:ext cx="5486400" cy="12801600"/>
          </a:xfrm>
          <a:prstGeom prst="rect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AutoPrompt chỉ là MỘT plugin —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lõi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chạy được hoàn toàn khi KHÔNG có AutoPrompt: optimizer mặc định (llm_rewrite) là engine tự viết. AutoPrompt được bọc lại thành một adapter cắm vào — có thể thay ra bất cứ lúc nào.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đang đăng ký trong registry — đổi bằng 1 dòng YAML, không sửa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572000"/>
            <a:ext cx="3291840" cy="2057400"/>
          </a:xfrm>
          <a:prstGeom prst="rect">
            <a:avLst/>
          </a:prstGeom>
          <a:solidFill>
            <a:srgbClr val="001F5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640080" y="4663440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llm_rewrite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4663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— engine tự viết, mặc định, độc lập với AutoPrompt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321808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868680" y="5321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autoprompt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5321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— adapter bọc meta-chain của AutoPrompt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980176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868680" y="59801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· sqlite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59801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— giữ lịch sử prompt + điểm, đổi được không sửa code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AutoPrompt gốc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AutoPrompt là một framework tốt cho bài toán của nó. Bảng dưới so sánh trên các tiêu chí kỹ thuật đo được.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C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C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AutoPrompt gốc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C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này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tự động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test, chạy 0.09s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bằng pip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pyproject lỗi: khai &gt;=3.12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nhưng repo cần &lt;=3.10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-e  ·  CLI prompt-tune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 không cần Argilla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Mặc định cần Argilla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điểm giả khi API lỗi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Cờ reliable — từ chối chấm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Đổi engine tối ưu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Gắn chặt 1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Cắm plugin theo tên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Thang điểm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OpenAI-first (Google có 3 bug)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· OpenAI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1.698 dòng code + 1.012 dòng test  ·  38 file  ·  4 bug của AutoPrompt đã được phát hiện và vá trong quá trình tích hợp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828800"/>
            <a:ext cx="4572000" cy="4572000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Shape 1"/>
          <p:cNvSpPr/>
          <p:nvPr/>
        </p:nvSpPr>
        <p:spPr>
          <a:xfrm>
            <a:off x="11521440" y="4480560"/>
            <a:ext cx="2011680" cy="2011680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CHẠY THẬT VỚI GEMINI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dở 68.8/100 → prompt tốt 100/100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khó: phân loại ticket hỗ trợ có khẩn cấp không. “Khẩn cấp” là QUY ĐỊNH NỘI BỘ mà LLM không thể đoán ra — và các ca bẫy cố tình gào “URGENT!!!”.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— prompt ban đầu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this support ticket urgent? Yes or No"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68.8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868680" y="3127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framework tự viết lại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for "No":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free tier / trial account — even if completely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blocked or getting 500 errors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cosmetic bug or feature request — regardless of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how angry, or if they write "URGENT"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for "Yes":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critical blocking failure affecting a PAYING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enterprise customer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553212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868680" y="5532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ai nói cho nó biết quy định. Nó tự suy ra CHỈ từ các ca đoán sai.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828800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graphicFrame>
        <p:nvGraphicFramePr>
          <p:cNvPr id="18" name="Chart 0"/>
          <p:cNvGraphicFramePr/>
          <p:nvPr/>
        </p:nvGraphicFramePr>
        <p:xfrm>
          <a:off x="6583680" y="1920240"/>
          <a:ext cx="48463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6492240" y="553212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7"/>
          <p:cNvSpPr/>
          <p:nvPr/>
        </p:nvSpPr>
        <p:spPr>
          <a:xfrm>
            <a:off x="6492240" y="5532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+31,2 điểm sau ĐÚNG MỘT vòng tối ưu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332720" y="-2258568"/>
            <a:ext cx="5486400" cy="12801600"/>
          </a:xfrm>
          <a:prstGeom prst="rect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test, chạy 0.09 giây, không tốn một đồng API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kiểm tra vòng lặp của framework, không kiểm tra LLM — nên nó cắm component thay thế (test double) có hành vi biết trước. Không gọi mạng, chạy được ở mọi nơi kể cả CI.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342900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290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chạy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900684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0684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test_tuner.py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IoC, tiêu chí dừng, callback, best-not-last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904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test_do_tin_cay_diem.py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90448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thổi phồng điểm khi gọi LLM lỗi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42885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test_llm.py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28853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mặc định theo provider, thứ tự tìm API key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672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test_guards.py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67258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mã: không ghim tên model, không lộ khoá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0566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test_stores.py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50566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2 store hành xử giống nhau, SQLite bền vững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test_evaluator.py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54406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đúng/sai, bỏ qua ca lỗi LLM và ca thiếu nhãn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58247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test_registry.py · test_cli.py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582472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plugin, luồng terminal đầu-cuối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6263640"/>
            <a:ext cx="10881360" cy="457200"/>
          </a:xfrm>
          <a:prstGeom prst="roundRect">
            <a:avLst>
              <a:gd name="adj" fmla="val 24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Text 31"/>
          <p:cNvSpPr/>
          <p:nvPr/>
        </p:nvSpPr>
        <p:spPr>
          <a:xfrm>
            <a:off x="868680" y="6263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bắt được bug thật: gọi LLM lỗi bị loại khỏi mẫu số → prompt dở 50/100 bị thổi thành 100/100. Nay tuner từ chối ghi điểm không đáng tin.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đồng cho một lần tối ưu prompt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model theo vai trò: “thí sinh” chạy nhiều lần nhưng mỗi lần rất nhỏ; “người sửa” chỉ chạy 1 lần/vòng nhưng sinh prompt dài — nên nó mới tốn nhất.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sinh (Executor)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gemini-3.1-flash-lite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569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request → 17% chi phí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874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$0.25 in · $1.50 out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86868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sửa (Optimizer)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gemini-3.5-flash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712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request → 83% chi phí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3017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$1.50 in · $9.00 out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86868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model 2.5 đã ngừng cấp cho tài khoản mới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6451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list_models() vẫn liệt kê chúng, nhưng gọi vào là 404 — phải thử gọi thật mới biết.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86868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học: ghim tên model cụ thể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6875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“-latest” âm thầm trôi lên model đắt hơn: gemini-flash-latest thực chất là 3.5-flash — $9/1M output.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182880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graphicFrame>
        <p:nvGraphicFramePr>
          <p:cNvPr id="22" name="Chart 0"/>
          <p:cNvGraphicFramePr/>
          <p:nvPr/>
        </p:nvGraphicFramePr>
        <p:xfrm>
          <a:off x="6583680" y="1920240"/>
          <a:ext cx="4846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649224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giá: ai.google.dev/gemini-api/docs/pricing (07/2026)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828800"/>
            <a:ext cx="4572000" cy="4572000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Shape 1"/>
          <p:cNvSpPr/>
          <p:nvPr/>
        </p:nvSpPr>
        <p:spPr>
          <a:xfrm>
            <a:off x="11521440" y="4480560"/>
            <a:ext cx="2011680" cy="2011680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&amp; sử dụng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Cài đặt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prompt_tuning_framework/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kèm Google + OpenAI + AutoPrompt + test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"prompt_tuning_framework/[all]"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Chạy trên terminal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prompt-tune plugins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prompt-tune run \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--dataset data.csv \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--prompt "Is this a dog? Yes or No" \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--labels Yes No --max-iters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Chạy bằng Python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5029200" cy="2240280"/>
          </a:xfrm>
          <a:prstGeom prst="roundRect">
            <a:avLst>
              <a:gd name="adj" fmla="val 4898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6720840" y="1965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prompt_tuning_framework import PromptTuner, Sample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prompt_tuning_framework.components import (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LLMExecutor, AccuracyEvaluator, LLMRewriteOptimizer)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tuner = PromptTuner(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executor=LLMExecutor(labels=["Yes","No"]),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evaluator=AccuracyEvaluator(),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optimizer=LLMRewriteOptimizer(labels=["Yes","No"]),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tuner.run("Is this a dog?", samples)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Chạy test &amp; UI demo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617720"/>
            <a:ext cx="5029200" cy="1417320"/>
          </a:xfrm>
          <a:prstGeom prst="roundRect">
            <a:avLst>
              <a:gd name="adj" fmla="val 7742"/>
            </a:avLst>
          </a:prstGeom>
          <a:solidFill>
            <a:srgbClr val="0A2E70"/>
          </a:solidFill>
          <a:ln w="12700">
            <a:solidFill>
              <a:srgbClr val="0A2E7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672084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prompt_tuning_framework/tests/ -q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\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prompt_tuning_framework/ui/streamlit_app.py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 Python 3.9+  ·  Dataset CSV 2 cột: text, label  ·  API key: biến môi trường GOOGLE_API_KEY, hoặc config/llm_env.local.yml (đã .gitignore — đừng dùng llm_env.yml, file đó nằm trong Git)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332720" y="-2258568"/>
            <a:ext cx="5486400" cy="12801600"/>
          </a:xfrm>
          <a:prstGeom prst="rect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đủ 5/5 tiêu chí của một framework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core/tuner.py — framework giữ vòng lặp, gọi ngược component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35224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640080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mở rộng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86207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core/interfaces.py — 4 interface + callback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64008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753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registry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57530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core/registry.py — đăng ký &amp; tạo theo tên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61688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640080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88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428853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— dựng toàn bộ từ YAML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001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công khai + đóng gói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50017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 ·  lệnh prompt-tune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E4002A"/>
          </a:solidFill>
          <a:ln w="12700">
            <a:solidFill>
              <a:srgbClr val="E4002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thêm evaluator LLM-judge  ·  optimizer tìm kiếm tiến hoá  ·  CI tự động chạy test  ·  registry chia sẻ nhóm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2080</Words>
  <Application>Microsoft Macintosh PowerPoint</Application>
  <PresentationFormat>Widescreen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Tuning Framework — Báo cáo</dc:title>
  <dc:subject>PptxGenJS Presentation</dc:subject>
  <dc:creator>Prompt Tuning Framework</dc:creator>
  <cp:lastModifiedBy>Bui Van Tuan (S.AI.20K)</cp:lastModifiedBy>
  <cp:revision>2</cp:revision>
  <dcterms:created xsi:type="dcterms:W3CDTF">2026-07-16T15:32:49Z</dcterms:created>
  <dcterms:modified xsi:type="dcterms:W3CDTF">2026-07-16T15:37:09Z</dcterms:modified>
</cp:coreProperties>
</file>